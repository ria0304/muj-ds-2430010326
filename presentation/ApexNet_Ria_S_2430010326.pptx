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141C"/>
                </a:solidFill>
                <a:latin typeface="Calibri"/>
              </a:rPr>
              <a:t>Race-level 60/20/20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Races</c:v>
                </c:pt>
              </c:strCache>
            </c:strRef>
          </c:tx>
          <c:spPr>
            <a:solidFill>
              <a:srgbClr val="E10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</c:v>
                  </c:pt>
                  <c:pt idx="1">
                    <c:v>Val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</c:v>
                </c:pt>
                <c:pt idx="1">
                  <c:v>53</c:v>
                </c:pt>
                <c:pt idx="2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4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4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41C"/>
                </a:solidFill>
                <a:latin typeface="Calibri"/>
              </a:rPr>
              <a:t>Mean over 3 seeds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414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CNN</c:v>
                  </c:pt>
                  <c:pt idx="1">
                    <c:v>GAT</c:v>
                  </c:pt>
                  <c:pt idx="2">
                    <c:v>LSTM</c:v>
                  </c:pt>
                  <c:pt idx="3">
                    <c:v>CNN+LSTM</c:v>
                  </c:pt>
                  <c:pt idx="4">
                    <c:v>GCN</c:v>
                  </c:pt>
                  <c:pt idx="5">
                    <c:v>Transf.</c:v>
                  </c:pt>
                  <c:pt idx="6">
                    <c:v>CNN+GAT</c:v>
                  </c:pt>
                  <c:pt idx="7">
                    <c:v>Gated v2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0.588</c:v>
                </c:pt>
                <c:pt idx="1">
                  <c:v>0.592</c:v>
                </c:pt>
                <c:pt idx="2">
                  <c:v>0.594</c:v>
                </c:pt>
                <c:pt idx="3">
                  <c:v>0.594</c:v>
                </c:pt>
                <c:pt idx="4">
                  <c:v>0.594</c:v>
                </c:pt>
                <c:pt idx="5">
                  <c:v>0.601</c:v>
                </c:pt>
                <c:pt idx="6">
                  <c:v>0.593</c:v>
                </c:pt>
                <c:pt idx="7">
                  <c:v>0.589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E10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CNN</c:v>
                  </c:pt>
                  <c:pt idx="1">
                    <c:v>GAT</c:v>
                  </c:pt>
                  <c:pt idx="2">
                    <c:v>LSTM</c:v>
                  </c:pt>
                  <c:pt idx="3">
                    <c:v>CNN+LSTM</c:v>
                  </c:pt>
                  <c:pt idx="4">
                    <c:v>GCN</c:v>
                  </c:pt>
                  <c:pt idx="5">
                    <c:v>Transf.</c:v>
                  </c:pt>
                  <c:pt idx="6">
                    <c:v>CNN+GAT</c:v>
                  </c:pt>
                  <c:pt idx="7">
                    <c:v>Gated v2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0.404</c:v>
                </c:pt>
                <c:pt idx="1">
                  <c:v>0.4</c:v>
                </c:pt>
                <c:pt idx="2">
                  <c:v>0.386</c:v>
                </c:pt>
                <c:pt idx="3">
                  <c:v>0.356</c:v>
                </c:pt>
                <c:pt idx="4">
                  <c:v>0.416</c:v>
                </c:pt>
                <c:pt idx="5">
                  <c:v>0.298</c:v>
                </c:pt>
                <c:pt idx="6">
                  <c:v>0.407</c:v>
                </c:pt>
                <c:pt idx="7">
                  <c:v>0.394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CNN</c:v>
                  </c:pt>
                  <c:pt idx="1">
                    <c:v>GAT</c:v>
                  </c:pt>
                  <c:pt idx="2">
                    <c:v>LSTM</c:v>
                  </c:pt>
                  <c:pt idx="3">
                    <c:v>CNN+LSTM</c:v>
                  </c:pt>
                  <c:pt idx="4">
                    <c:v>GCN</c:v>
                  </c:pt>
                  <c:pt idx="5">
                    <c:v>Transf.</c:v>
                  </c:pt>
                  <c:pt idx="6">
                    <c:v>CNN+GAT</c:v>
                  </c:pt>
                  <c:pt idx="7">
                    <c:v>Gated v2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0.592</c:v>
                </c:pt>
                <c:pt idx="1">
                  <c:v>0.597</c:v>
                </c:pt>
                <c:pt idx="2">
                  <c:v>0.598</c:v>
                </c:pt>
                <c:pt idx="3">
                  <c:v>0.596</c:v>
                </c:pt>
                <c:pt idx="4">
                  <c:v>0.592</c:v>
                </c:pt>
                <c:pt idx="5">
                  <c:v>0.595</c:v>
                </c:pt>
                <c:pt idx="6">
                  <c:v>0.588</c:v>
                </c:pt>
                <c:pt idx="7">
                  <c:v>0.586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4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.2"/>
        </c:scaling>
        <c:delete val="0"/>
        <c:axPos val="l"/>
        <c:majorGridlines>
          <c:spPr>
            <a:ln w="6350" cap="flat">
              <a:solidFill>
                <a:srgbClr val="DD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41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4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41C"/>
                </a:solidFill>
                <a:latin typeface="Calibri"/>
              </a:rPr>
              <a:t>Test F1 with one feature group removed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C9C9D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9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9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9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9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9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106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 form / pace</c:v>
                  </c:pt>
                  <c:pt idx="1">
                    <c:v>No trend</c:v>
                  </c:pt>
                  <c:pt idx="2">
                    <c:v>No pit prior</c:v>
                  </c:pt>
                  <c:pt idx="3">
                    <c:v>No quali gap</c:v>
                  </c:pt>
                  <c:pt idx="4">
                    <c:v>No grid gap</c:v>
                  </c:pt>
                  <c:pt idx="5">
                    <c:v>Full model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0.239</c:v>
                </c:pt>
                <c:pt idx="1">
                  <c:v>0.396</c:v>
                </c:pt>
                <c:pt idx="2">
                  <c:v>0.39</c:v>
                </c:pt>
                <c:pt idx="3">
                  <c:v>0.398</c:v>
                </c:pt>
                <c:pt idx="4">
                  <c:v>0.402</c:v>
                </c:pt>
                <c:pt idx="5">
                  <c:v>0.397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14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4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E10600">
              <a:alpha val="20000"/>
            </a:srgbClr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 ·  DEEP LEARNING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ApexNet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grid-adjacent overtakes with a CNN + Graph Attention network on real F1 race 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2430010326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Data Science, Manipal University Jaipur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will the car behind pass?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two drivers starting next to each other on the grid, predict whether the one behind finishes ahead.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659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Overtaking drives race strategy, broadcast graphics and fan engagement; a pre-race estimate is useful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9659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per driver pair: defender starts ahead, attacker starts behind. Label = 1 if attacker finishes ahead.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9659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information known at grid time may be used. No finish-derived or full-race features, enforced by a leakage gate in code.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real f1db results, 2014 onward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097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097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(hybrid-turbo era)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240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4,976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240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grid-adjacent driver pairs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832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 in every split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023360" y="1051560"/>
          <a:ext cx="4663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023360" y="3611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races are assigned to one split, so pairs from the same race never leak across train, validation and test. Sources: races, drivers, constructors, race results, qualifying and pit stops.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5087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0116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f1db CSVs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quali, pit stops, season form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965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14884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9192" y="15087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7919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21992" y="20116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build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leakage-checked, per driver pair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1965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0832" y="1508760"/>
            <a:ext cx="411480" cy="411480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7083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0116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deep + 2 classical, same split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965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53212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62472" y="15087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6247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05272" y="20116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acc, P, R, F1, AUC, 3 seeds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965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22376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54112" y="1508760"/>
            <a:ext cx="411480" cy="411480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5411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296912" y="201168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replay of real races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replays a real race: real grid, real pit-stop laps and real final classification, with model overtake probabilities per pair. On-track motion between start and finish is interpolated and disclosed as a visual aid.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known at grid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season form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results this season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pace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strength so far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trend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8 finishes, oldest to newest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832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Pit-stop prior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driver and team stops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Qualifying gap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pole per driver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3832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gaps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cars ahead and behind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560320" cy="3154680"/>
          </a:xfrm>
          <a:prstGeom prst="roundRect">
            <a:avLst>
              <a:gd name="adj" fmla="val 2857"/>
            </a:avLst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0936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safety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1691640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past races only for history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assert_no_leakage gate blocks finish-derived inputs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Race-level splits, never pair-level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model: gated-fusion CNN + GAT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91" cy="91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09728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CNN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 over 8-race history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423160"/>
            <a:ext cx="91" cy="91"/>
          </a:xfrm>
          <a:prstGeom prst="rect">
            <a:avLst/>
          </a:prstGeom>
          <a:solidFill>
            <a:srgbClr val="1B7F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2860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branch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GAT, 4 heads, grid-adjacency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69164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828800"/>
            <a:ext cx="91" cy="91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35808" y="169164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sigmoid(MLP[h_cnn; h_gat; diff])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6916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828800"/>
            <a:ext cx="91" cy="91"/>
          </a:xfrm>
          <a:prstGeom prst="rect">
            <a:avLst/>
          </a:prstGeom>
          <a:solidFill>
            <a:srgbClr val="1414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04688" y="169164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readout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on attacker, defender, diff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6916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52360" y="1828800"/>
            <a:ext cx="91" cy="91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24928" y="169164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P(overtake)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1554480"/>
            <a:ext cx="457200" cy="54864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2468880" y="2377440"/>
            <a:ext cx="457200" cy="36576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37760" y="2240280"/>
            <a:ext cx="457200" cy="914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9440" y="2240280"/>
            <a:ext cx="365760" cy="914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gating: each driver can adaptively trust form history versus grid context, instead of a fixed concatenation. Hidden size 48, AdamW (lr 1e-3), early stopping on validation AUC, 3 seeds (42, 43, 44).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 on identical splits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051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051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1051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051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1801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1801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801368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1801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+ LSTM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8013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temporal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255117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25511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Graph, no attention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2551176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00600" y="255117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511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over history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009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" y="33009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33009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flat pair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33009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800600" y="33009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30098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flat pair features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 model is trained with the same 60/20/20 race split and reported as mean ± std over three seeds, so differences are directly comparable. Classical models act as a sanity check.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held-out test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0515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46520" y="1097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≈0.59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5544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for every model; majority class alone gives 0.58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224028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4652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7432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(GCN); Transformer is most conservative (F1 0.30)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34290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46520" y="3474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0.47 - 0.54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9319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for AUC of the proposed model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what drives the signal?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9728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14141C"/>
          </a:solidFill>
          <a:ln w="12700">
            <a:solidFill>
              <a:srgbClr val="14141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03504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6916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form and constructor pace carry most of the signal: F1 falls from 0.40 to 0.24 without them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groups change F1 by under 0.01, within seed noise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 S  |  Reg No 2430010326  |  ApexNet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F1F2B"/>
          </a:solidFill>
          <a:ln w="12700">
            <a:solidFill>
              <a:srgbClr val="1F1F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Pre-race overtake prediction from public data is hard: test accuracy ≈0.59 and AUC ≈0.59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matters little here; season form and pace features matter most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Leakage-checked splits and multi-seed reporting keep the numbers honest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in-race prediction updated lap by lap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tyre compound and safety-car inputs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simulator: pick any two drivers and a grid slot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finishing-order and podium prediction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ApexNet - F1 Overtaking Prediction</dc:title>
  <dc:subject>PptxGenJS Presentation</dc:subject>
  <dc:creator>Ria S</dc:creator>
  <cp:lastModifiedBy>Ria S</cp:lastModifiedBy>
  <cp:revision>1</cp:revision>
  <dcterms:created xsi:type="dcterms:W3CDTF">2026-10-22T13:54:53Z</dcterms:created>
  <dcterms:modified xsi:type="dcterms:W3CDTF">2026-10-22T13:54:53Z</dcterms:modified>
</cp:coreProperties>
</file>